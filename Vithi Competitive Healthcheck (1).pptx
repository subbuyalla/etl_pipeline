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2" r:id="rId6"/>
    <p:sldId id="264" r:id="rId7"/>
    <p:sldId id="266" r:id="rId8"/>
    <p:sldId id="26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176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1828800"/>
            <a:ext cx="6400800" cy="6400800"/>
          </a:xfrm>
          <a:prstGeom prst="ellipse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126480"/>
            <a:ext cx="11887200" cy="640080"/>
          </a:xfrm>
          <a:prstGeom prst="rect">
            <a:avLst/>
          </a:prstGeom>
          <a:solidFill>
            <a:srgbClr val="0E7490">
              <a:alpha val="18000"/>
            </a:srgbClr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5488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4754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5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VITHI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11480" y="1280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Data Platform Deserves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11480" y="1965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Health Check — Not a Long Wait.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411480" y="28346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3C5FD"/>
                </a:solidFill>
              </a:rPr>
              <a:t>How Vithi delivers a complete, tool-agnostic Data Platform Health Check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" y="32461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3C5FD"/>
                </a:solidFill>
              </a:rPr>
              <a:t>in 4 weeks — while others take months and charge millions.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11480" y="3977640"/>
            <a:ext cx="3017520" cy="411480"/>
          </a:xfrm>
          <a:prstGeom prst="rect">
            <a:avLst/>
          </a:prstGeom>
          <a:solidFill>
            <a:srgbClr val="0E7490">
              <a:alpha val="6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Tool-Agnostic Advice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0" y="3977640"/>
            <a:ext cx="3017520" cy="411480"/>
          </a:xfrm>
          <a:prstGeom prst="rect">
            <a:avLst/>
          </a:prstGeom>
          <a:solidFill>
            <a:srgbClr val="0E7490">
              <a:alpha val="6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4-Week Delivery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903720" y="3977640"/>
            <a:ext cx="3017520" cy="411480"/>
          </a:xfrm>
          <a:prstGeom prst="rect">
            <a:avLst/>
          </a:prstGeom>
          <a:solidFill>
            <a:srgbClr val="0E7490">
              <a:alpha val="6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0372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Health Report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Competitive Positioning  |  Client Presentation  |  Confidential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486400" cy="5486400"/>
          </a:xfrm>
          <a:prstGeom prst="ellipse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754880"/>
            <a:ext cx="4114800" cy="41148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CRISIS HIDING INSIDE YOUR DATA PLATFORM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9E0B"/>
                </a:solidFill>
              </a:rPr>
              <a:t>Every hour you don't have visibility, your data is silently costing you trust, money, and decisions.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2743200" cy="129844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2984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8912" y="19385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</a:rPr>
              <a:t>of data failures are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</a:rPr>
              <a:t>found by business users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</a:rPr>
              <a:t>BEFORE engineers know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261872"/>
            <a:ext cx="2743200" cy="129844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2984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4.2h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37560" y="19385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</a:rPr>
              <a:t>average time for 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</a:rPr>
              <a:t>engineer to diagnose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</a:rPr>
              <a:t>a single pipeline failure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44768" y="1261872"/>
            <a:ext cx="2743200" cy="129844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2984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$4.1M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36208" y="19385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</a:rPr>
              <a:t>average annual cost of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</a:rPr>
              <a:t>poor data quality per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</a:rPr>
              <a:t>organisation  (Gartner)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43416" y="1261872"/>
            <a:ext cx="2743200" cy="129844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34856" y="12984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134856" y="19385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</a:rPr>
              <a:t>of cloud data spend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</a:rPr>
              <a:t>cannot be attributed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</a:rPr>
              <a:t>to a specific pipeline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2724912"/>
            <a:ext cx="3730752" cy="1810512"/>
          </a:xfrm>
          <a:prstGeom prst="rect">
            <a:avLst/>
          </a:prstGeom>
          <a:solidFill>
            <a:srgbClr val="1A0A0A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724912"/>
            <a:ext cx="3730752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2770632"/>
            <a:ext cx="310896" cy="31089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38912" y="27614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Silent Pipeline Failures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38912" y="3218688"/>
            <a:ext cx="356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</a:rPr>
              <a:t>Pipelines break undetected for hours. No alerting. No lineage. No blast radius. Engineers find out when the CEO's dashboard shows last week's numbers.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438912" y="4206240"/>
            <a:ext cx="3547872" cy="228600"/>
          </a:xfrm>
          <a:prstGeom prst="roundRect">
            <a:avLst>
              <a:gd name="adj" fmla="val 16000"/>
            </a:avLst>
          </a:prstGeom>
          <a:solidFill>
            <a:srgbClr val="DC2626">
              <a:alpha val="7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" y="4206240"/>
            <a:ext cx="35478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⚠  Avg. 4+ hrs undetected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4233672" y="2724912"/>
            <a:ext cx="3730752" cy="1810512"/>
          </a:xfrm>
          <a:prstGeom prst="rect">
            <a:avLst/>
          </a:prstGeom>
          <a:solidFill>
            <a:srgbClr val="1A1400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233672" y="2724912"/>
            <a:ext cx="3730752" cy="42062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2770632"/>
            <a:ext cx="310896" cy="31089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325112" y="27614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Cloud Costs Spinning Out of Control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4325112" y="3218688"/>
            <a:ext cx="356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</a:rPr>
              <a:t>Snowflake credits double overnight. BigQuery bills spike with no per-pipeline breakdown. Finance asks tough questions and engineering has no answers.</a:t>
            </a:r>
            <a:endParaRPr lang="en-US" sz="980" dirty="0"/>
          </a:p>
        </p:txBody>
      </p:sp>
      <p:sp>
        <p:nvSpPr>
          <p:cNvPr id="31" name="Shape 27"/>
          <p:cNvSpPr/>
          <p:nvPr/>
        </p:nvSpPr>
        <p:spPr>
          <a:xfrm>
            <a:off x="4325112" y="4206240"/>
            <a:ext cx="3547872" cy="228600"/>
          </a:xfrm>
          <a:prstGeom prst="roundRect">
            <a:avLst>
              <a:gd name="adj" fmla="val 16000"/>
            </a:avLst>
          </a:prstGeom>
          <a:solidFill>
            <a:srgbClr val="B45309">
              <a:alpha val="75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325112" y="4206240"/>
            <a:ext cx="35478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⚠  Avg. 30% waste undetected</a:t>
            </a:r>
            <a:endParaRPr lang="en-US" sz="880" dirty="0"/>
          </a:p>
        </p:txBody>
      </p:sp>
      <p:sp>
        <p:nvSpPr>
          <p:cNvPr id="33" name="Shape 29"/>
          <p:cNvSpPr/>
          <p:nvPr/>
        </p:nvSpPr>
        <p:spPr>
          <a:xfrm>
            <a:off x="8119872" y="2724912"/>
            <a:ext cx="3730752" cy="1810512"/>
          </a:xfrm>
          <a:prstGeom prst="rect">
            <a:avLst/>
          </a:prstGeom>
          <a:solidFill>
            <a:srgbClr val="110A1A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119872" y="2724912"/>
            <a:ext cx="3730752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3424" y="2770632"/>
            <a:ext cx="310896" cy="31089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211312" y="27614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Zero End-to-End Visibility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8211312" y="3218688"/>
            <a:ext cx="356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</a:rPr>
              <a:t>No single view across pipelines, data quality, CI/CD, and BI. Every tool has its own dashboard — but nobody sees the full picture or downstream impact.</a:t>
            </a:r>
            <a:endParaRPr lang="en-US" sz="980" dirty="0"/>
          </a:p>
        </p:txBody>
      </p:sp>
      <p:sp>
        <p:nvSpPr>
          <p:cNvPr id="38" name="Shape 33"/>
          <p:cNvSpPr/>
          <p:nvPr/>
        </p:nvSpPr>
        <p:spPr>
          <a:xfrm>
            <a:off x="8211312" y="4206240"/>
            <a:ext cx="3547872" cy="228600"/>
          </a:xfrm>
          <a:prstGeom prst="roundRect">
            <a:avLst>
              <a:gd name="adj" fmla="val 16000"/>
            </a:avLst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211312" y="4206240"/>
            <a:ext cx="35478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⚠  Avg. 6 tools, 0 unified view</a:t>
            </a:r>
            <a:endParaRPr lang="en-US" sz="880" dirty="0"/>
          </a:p>
        </p:txBody>
      </p:sp>
      <p:sp>
        <p:nvSpPr>
          <p:cNvPr id="40" name="Shape 35"/>
          <p:cNvSpPr/>
          <p:nvPr/>
        </p:nvSpPr>
        <p:spPr>
          <a:xfrm>
            <a:off x="347472" y="4690872"/>
            <a:ext cx="3730752" cy="1810512"/>
          </a:xfrm>
          <a:prstGeom prst="rect">
            <a:avLst/>
          </a:prstGeom>
          <a:solidFill>
            <a:srgbClr val="040F12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347472" y="4690872"/>
            <a:ext cx="3730752" cy="42062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4736592"/>
            <a:ext cx="310896" cy="310896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438912" y="47274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Schema Changes Break Everything Silently</a:t>
            </a:r>
            <a:endParaRPr lang="en-US" sz="1150" dirty="0"/>
          </a:p>
        </p:txBody>
      </p:sp>
      <p:sp>
        <p:nvSpPr>
          <p:cNvPr id="44" name="Text 38"/>
          <p:cNvSpPr/>
          <p:nvPr/>
        </p:nvSpPr>
        <p:spPr>
          <a:xfrm>
            <a:off x="438912" y="5184648"/>
            <a:ext cx="356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</a:rPr>
              <a:t>A developer removes a column. Three dbt models fail. Two dashboards show wrong numbers. The revenue report is stale. Nobody knows why for 12 hours.</a:t>
            </a:r>
            <a:endParaRPr lang="en-US" sz="980" dirty="0"/>
          </a:p>
        </p:txBody>
      </p:sp>
      <p:sp>
        <p:nvSpPr>
          <p:cNvPr id="45" name="Shape 39"/>
          <p:cNvSpPr/>
          <p:nvPr/>
        </p:nvSpPr>
        <p:spPr>
          <a:xfrm>
            <a:off x="438912" y="6172200"/>
            <a:ext cx="3547872" cy="228600"/>
          </a:xfrm>
          <a:prstGeom prst="roundRect">
            <a:avLst>
              <a:gd name="adj" fmla="val 16000"/>
            </a:avLst>
          </a:prstGeom>
          <a:solidFill>
            <a:srgbClr val="0E7490">
              <a:alpha val="75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38912" y="6172200"/>
            <a:ext cx="35478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⚠  #1 cause of data incidents</a:t>
            </a:r>
            <a:endParaRPr lang="en-US" sz="880" dirty="0"/>
          </a:p>
        </p:txBody>
      </p:sp>
      <p:sp>
        <p:nvSpPr>
          <p:cNvPr id="47" name="Shape 41"/>
          <p:cNvSpPr/>
          <p:nvPr/>
        </p:nvSpPr>
        <p:spPr>
          <a:xfrm>
            <a:off x="4233672" y="4690872"/>
            <a:ext cx="3730752" cy="1810512"/>
          </a:xfrm>
          <a:prstGeom prst="rect">
            <a:avLst/>
          </a:prstGeom>
          <a:solidFill>
            <a:srgbClr val="1A0A0A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2"/>
          <p:cNvSpPr/>
          <p:nvPr/>
        </p:nvSpPr>
        <p:spPr>
          <a:xfrm>
            <a:off x="4233672" y="4690872"/>
            <a:ext cx="3730752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4736592"/>
            <a:ext cx="310896" cy="310896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4325112" y="47274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Assessments Take Months, Change Nothing</a:t>
            </a:r>
            <a:endParaRPr lang="en-US" sz="1150" dirty="0"/>
          </a:p>
        </p:txBody>
      </p:sp>
      <p:sp>
        <p:nvSpPr>
          <p:cNvPr id="51" name="Text 44"/>
          <p:cNvSpPr/>
          <p:nvPr/>
        </p:nvSpPr>
        <p:spPr>
          <a:xfrm>
            <a:off x="4325112" y="5184648"/>
            <a:ext cx="356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</a:rPr>
              <a:t>You hire a big SI. 6 to 9 months and $2M later — a 200-slide deck. Still no clear prioritised fix list. Still no pipeline SLAs. Still no tool recommendation.</a:t>
            </a:r>
            <a:endParaRPr lang="en-US" sz="980" dirty="0"/>
          </a:p>
        </p:txBody>
      </p:sp>
      <p:sp>
        <p:nvSpPr>
          <p:cNvPr id="52" name="Shape 45"/>
          <p:cNvSpPr/>
          <p:nvPr/>
        </p:nvSpPr>
        <p:spPr>
          <a:xfrm>
            <a:off x="4325112" y="6172200"/>
            <a:ext cx="3547872" cy="228600"/>
          </a:xfrm>
          <a:prstGeom prst="roundRect">
            <a:avLst>
              <a:gd name="adj" fmla="val 16000"/>
            </a:avLst>
          </a:prstGeom>
          <a:solidFill>
            <a:srgbClr val="DC2626">
              <a:alpha val="7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4325112" y="6172200"/>
            <a:ext cx="35478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⚠  Avg. SI engagement: 6 to 9 months</a:t>
            </a:r>
            <a:endParaRPr lang="en-US" sz="880" dirty="0"/>
          </a:p>
        </p:txBody>
      </p:sp>
      <p:sp>
        <p:nvSpPr>
          <p:cNvPr id="54" name="Shape 47"/>
          <p:cNvSpPr/>
          <p:nvPr/>
        </p:nvSpPr>
        <p:spPr>
          <a:xfrm>
            <a:off x="8119872" y="4690872"/>
            <a:ext cx="3730752" cy="1810512"/>
          </a:xfrm>
          <a:prstGeom prst="rect">
            <a:avLst/>
          </a:prstGeom>
          <a:solidFill>
            <a:srgbClr val="041A0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48"/>
          <p:cNvSpPr/>
          <p:nvPr/>
        </p:nvSpPr>
        <p:spPr>
          <a:xfrm>
            <a:off x="8119872" y="4690872"/>
            <a:ext cx="3730752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3424" y="4736592"/>
            <a:ext cx="310896" cy="310896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8211312" y="47274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Tool Vendors Solve Their Own Problem</a:t>
            </a:r>
            <a:endParaRPr lang="en-US" sz="1150" dirty="0"/>
          </a:p>
        </p:txBody>
      </p:sp>
      <p:sp>
        <p:nvSpPr>
          <p:cNvPr id="58" name="Text 50"/>
          <p:cNvSpPr/>
          <p:nvPr/>
        </p:nvSpPr>
        <p:spPr>
          <a:xfrm>
            <a:off x="8211312" y="5184648"/>
            <a:ext cx="356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</a:rPr>
              <a:t>Monte Carlo monitors Monte Carlo. Snowflake optimises Snowflake. No vendor will tell you to use a competitor — so you never get the full, honest picture.</a:t>
            </a:r>
            <a:endParaRPr lang="en-US" sz="980" dirty="0"/>
          </a:p>
        </p:txBody>
      </p:sp>
      <p:sp>
        <p:nvSpPr>
          <p:cNvPr id="59" name="Shape 51"/>
          <p:cNvSpPr/>
          <p:nvPr/>
        </p:nvSpPr>
        <p:spPr>
          <a:xfrm>
            <a:off x="8211312" y="6172200"/>
            <a:ext cx="3547872" cy="228600"/>
          </a:xfrm>
          <a:prstGeom prst="roundRect">
            <a:avLst>
              <a:gd name="adj" fmla="val 16000"/>
            </a:avLst>
          </a:prstGeom>
          <a:solidFill>
            <a:srgbClr val="059669">
              <a:alpha val="7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8211312" y="6172200"/>
            <a:ext cx="35478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⚠  Vendor bias = wrong tooling</a:t>
            </a:r>
            <a:endParaRPr lang="en-US" sz="880" dirty="0"/>
          </a:p>
        </p:txBody>
      </p:sp>
      <p:sp>
        <p:nvSpPr>
          <p:cNvPr id="61" name="Shape 53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Vithi  |  Data Platform Health Check  |  Confidential</a:t>
            </a:r>
            <a:endParaRPr lang="en-US" sz="900" dirty="0"/>
          </a:p>
        </p:txBody>
      </p:sp>
      <p:sp>
        <p:nvSpPr>
          <p:cNvPr id="63" name="Text 55"/>
          <p:cNvSpPr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</a:rPr>
              <a:t>vithi.io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12161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10058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COMPETITIVE LANDSCAPE — WHY EVERY OPTION LEAVES A GAP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10058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has tools and bodies — but no one combining speed, independence, and outcomes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Vithi  |  Data Platform Health Check  |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</a:rPr>
              <a:t>vithi.io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61872"/>
            <a:ext cx="0" cy="5047488"/>
          </a:xfrm>
          <a:prstGeom prst="line">
            <a:avLst/>
          </a:prstGeom>
          <a:noFill/>
          <a:ln w="27940">
            <a:solidFill>
              <a:srgbClr val="0A1F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1207008"/>
            <a:ext cx="256032" cy="128016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16200000">
            <a:off x="18288" y="2194560"/>
            <a:ext cx="56692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F44"/>
                </a:solidFill>
              </a:rPr>
              <a:t>Generic  ──►  Specialized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6309360"/>
            <a:ext cx="11292840" cy="0"/>
          </a:xfrm>
          <a:prstGeom prst="line">
            <a:avLst/>
          </a:prstGeom>
          <a:noFill/>
          <a:ln w="27940">
            <a:solidFill>
              <a:srgbClr val="0A1F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5760" y="6181344"/>
            <a:ext cx="128016" cy="25603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64190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F44"/>
                </a:solidFill>
              </a:rPr>
              <a:t>Tool-Centric  ──────────────────────────────────────────────►  Outcome-Centric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1261872"/>
            <a:ext cx="5440680" cy="251460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658368" y="1261872"/>
            <a:ext cx="544068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12618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TOOL VENDORS &amp; CLOUD PLATFORMS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8096" y="1673352"/>
            <a:ext cx="5239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Monte Carlo · Bigeye · Soda · Acceldata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Databricks · Snowflake · AWS · MS Azure · GCP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" y="226974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 Only monitors their own product ecosystem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8096" y="2552192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 Cannot recommend competing tools honestly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8096" y="281432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 No FinOps, CI/CD, or business impact layer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" y="307644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 Outcome? A vendor dashboard — not a health check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" y="3474720"/>
            <a:ext cx="5239512" cy="201168"/>
          </a:xfrm>
          <a:prstGeom prst="rect">
            <a:avLst/>
          </a:prstGeom>
          <a:solidFill>
            <a:srgbClr val="1D4ED8">
              <a:alpha val="82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474720"/>
            <a:ext cx="523951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⚠  Strong Tools — but Limited &amp; Biased Execution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" y="3822192"/>
            <a:ext cx="5440680" cy="2487168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822192"/>
            <a:ext cx="544068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8221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INTERNAL TEAMS &amp; NICHE FIRMS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8096" y="4233672"/>
            <a:ext cx="5239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In-house Engineers · Contractors · DE Vendors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phData · Sigmoid · ZS Associates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8096" y="478536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 Lack formal assessment methodology &amp; benchmarks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" y="504748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 Reactive — fix what breaks, no strategic view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8096" y="5309616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 No vendor-neutral tool evaluation expertise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" y="55615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 Output varies wildly — no consistency or repeatability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8096" y="5998464"/>
            <a:ext cx="5239512" cy="201168"/>
          </a:xfrm>
          <a:prstGeom prst="rect">
            <a:avLst/>
          </a:prstGeom>
          <a:solidFill>
            <a:srgbClr val="475569">
              <a:alpha val="82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5998464"/>
            <a:ext cx="523951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⚠  Weak Maturity — Reactive &amp; Inconsistent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44768" y="3822192"/>
            <a:ext cx="5742432" cy="2487168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44768" y="3822192"/>
            <a:ext cx="5742432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3822192"/>
            <a:ext cx="5605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TIER 1 SYSTEM INTEGRATORS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54496" y="4224528"/>
            <a:ext cx="5541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Accenture · TCS · Infosys · Wipro · Capgemini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54496" y="4533392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 6–12 month engagements — your problem gets worse while they plan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54496" y="4805680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 $2M–$5M+ cost with 20-consultant teams billing by the hour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54496" y="5057648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 Deliverable = a strategy deck, not a working solution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54496" y="5309616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 Vendor-influenced tool recommendations (referral fees)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54496" y="5561584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 Implementation is a separate, additional SOW and budget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54496" y="5998464"/>
            <a:ext cx="5541264" cy="201168"/>
          </a:xfrm>
          <a:prstGeom prst="rect">
            <a:avLst/>
          </a:prstGeom>
          <a:solidFill>
            <a:srgbClr val="0369A1">
              <a:alpha val="82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5998464"/>
            <a:ext cx="554126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⚠  Broad but Slow, Expensive &amp; Non-Prescriptive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99048" y="1216152"/>
            <a:ext cx="5833872" cy="2606040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44768" y="1261872"/>
            <a:ext cx="5742432" cy="2514600"/>
          </a:xfrm>
          <a:prstGeom prst="rect">
            <a:avLst/>
          </a:prstGeom>
          <a:solidFill>
            <a:srgbClr val="0C1F3D"/>
          </a:solidFill>
          <a:ln w="317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44768" y="1261872"/>
            <a:ext cx="5742432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316736"/>
            <a:ext cx="365760" cy="36576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6693408" y="129844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VITHI  —  The Sweet Spot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6254496" y="1810512"/>
            <a:ext cx="554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9E0B"/>
                </a:solidFill>
              </a:rPr>
              <a:t>Specialized · Tool-Agnostic · Outcome-Driven · 4 Weeks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6254496" y="2157984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✅  Best-fit tool recommendation for YOUR stack — no bias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6254496" y="2450592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</a:rPr>
              <a:t>✅  Complete health check across DataOps + FinOps + CI/CD + Business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6254496" y="2743200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✅  Full platform health report delivered on Day 28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6254496" y="3035808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✅  Fixed fee — no surprise costs, no consultant army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6254496" y="3328416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✅  30/60/90-day action roadmap — ready to execute immediately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11384280" y="941832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11384280" y="9418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★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6400800" cy="6400800"/>
          </a:xfrm>
          <a:prstGeom prst="ellipse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474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59E0B"/>
                </a:solidFill>
              </a:rPr>
              <a:t>THE VITHI ADVANTAGE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Specialized Expertise. Outcome-Driven. Done in 4 Weeks.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874520"/>
            <a:ext cx="3657600" cy="2176272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984248"/>
            <a:ext cx="658368" cy="6583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39112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872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Tool-Agnostic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61872" y="23317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</a:rPr>
              <a:t>Assessment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697480"/>
            <a:ext cx="3438144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</a:rPr>
              <a:t>We evaluate and recommend the right tools for your organisation — not our vendor's tools.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06240" y="1874520"/>
            <a:ext cx="3657600" cy="2176272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43400" y="1984248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039112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2064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4-Week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120640" y="23317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</a:rPr>
              <a:t>Delivery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315968" y="2697480"/>
            <a:ext cx="3438144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</a:rPr>
              <a:t>A complete health assessment from kick-off to final report in just 4 weeks. Not 6 months.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065008" y="1874520"/>
            <a:ext cx="3657600" cy="2176272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02168" y="1984248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2039112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79408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Full Health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979408" y="23317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3AED"/>
                </a:solidFill>
              </a:rPr>
              <a:t>Report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174736" y="2697480"/>
            <a:ext cx="3438144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</a:rPr>
              <a:t>You receive a complete, actionable health report — not a vague strategy deck.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47472" y="4206240"/>
            <a:ext cx="3657600" cy="2176272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84632" y="4315968"/>
            <a:ext cx="658368" cy="6583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4370832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61872" y="4297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Deep Technical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261872" y="4663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59669"/>
                </a:solidFill>
              </a:rPr>
              <a:t>Expertise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57200" y="5029200"/>
            <a:ext cx="3438144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</a:rPr>
              <a:t>Our team has built and scaled data platforms. We don't just assess — we've done it.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206240" y="4206240"/>
            <a:ext cx="3657600" cy="2176272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343400" y="4315968"/>
            <a:ext cx="658368" cy="6583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4370832"/>
            <a:ext cx="548640" cy="5486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20640" y="4297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Vendor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5120640" y="4663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A580C"/>
                </a:solidFill>
              </a:rPr>
              <a:t>Independent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315968" y="5029200"/>
            <a:ext cx="3438144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</a:rPr>
              <a:t>No referral agreements. No preferred vendor bias. Pure client-first recommendation.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8065008" y="4206240"/>
            <a:ext cx="3657600" cy="2176272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202168" y="4315968"/>
            <a:ext cx="658368" cy="6583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7888" y="4370832"/>
            <a:ext cx="548640" cy="54864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979408" y="4297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Business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8979408" y="4663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</a:rPr>
              <a:t>Impact Focus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8174736" y="5029200"/>
            <a:ext cx="3438144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</a:rPr>
              <a:t>We connect technical findings to business KPIs, cost, and revenue — not just technical debt.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12161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10058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4-WEEK VITHI HEALTH CHECK — HOW IT 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10058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Day 1 kickoff to final report delivery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Vithi  |  Data Platform Health Check  |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</a:rPr>
              <a:t>vithi.io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2148840"/>
            <a:ext cx="11475720" cy="9144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1993392"/>
            <a:ext cx="402336" cy="40233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4475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33672" y="1993392"/>
            <a:ext cx="402336" cy="402336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3367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22592" y="199339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2259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811512" y="1993392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1151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1261872"/>
            <a:ext cx="2743200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1325880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1261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38912" y="15727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Discovery &amp; Stack Mapping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47472" y="2395728"/>
            <a:ext cx="274320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12064" y="2542032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9808" y="2487168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Kickoff workshop with stakeholders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12064" y="3127248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07238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Current tool inventory audit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12064" y="3712464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" y="3657600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Top 10 pipeline identification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12064" y="4297680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9808" y="4242816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Access to logs, billing, metadata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5577840"/>
            <a:ext cx="2523744" cy="256032"/>
          </a:xfrm>
          <a:prstGeom prst="rect">
            <a:avLst/>
          </a:prstGeom>
          <a:solidFill>
            <a:srgbClr val="0E7490">
              <a:alpha val="88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55778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  Discovery Report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246120" y="1261872"/>
            <a:ext cx="2743200" cy="74980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1325880"/>
            <a:ext cx="365760" cy="36576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3337560" y="1261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2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3337560" y="15727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Deep Technical Assessment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3246120" y="2395728"/>
            <a:ext cx="274320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3410712" y="2542032"/>
            <a:ext cx="164592" cy="164592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648456" y="2487168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Pipeline health evaluation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3410712" y="3127248"/>
            <a:ext cx="164592" cy="164592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48456" y="307238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Data quality &amp; freshness audit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3410712" y="3712464"/>
            <a:ext cx="164592" cy="164592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48456" y="3657600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Lineage &amp; dependency mapping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3410712" y="4297680"/>
            <a:ext cx="164592" cy="164592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48456" y="4242816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Cost attribution analysis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3355848" y="5577840"/>
            <a:ext cx="2523744" cy="256032"/>
          </a:xfrm>
          <a:prstGeom prst="rect">
            <a:avLst/>
          </a:prstGeom>
          <a:solidFill>
            <a:srgbClr val="0A1F44">
              <a:alpha val="88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355848" y="55778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  Technical Findings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6144768" y="1261872"/>
            <a:ext cx="27432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325880"/>
            <a:ext cx="365760" cy="365760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6236208" y="1261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3</a:t>
            </a:r>
            <a:endParaRPr lang="en-US" sz="1100" dirty="0"/>
          </a:p>
        </p:txBody>
      </p:sp>
      <p:sp>
        <p:nvSpPr>
          <p:cNvPr id="51" name="Text 46"/>
          <p:cNvSpPr/>
          <p:nvPr/>
        </p:nvSpPr>
        <p:spPr>
          <a:xfrm>
            <a:off x="6236208" y="15727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Tool Evaluation &amp; Gaps</a:t>
            </a:r>
            <a:endParaRPr lang="en-US" sz="1050" dirty="0"/>
          </a:p>
        </p:txBody>
      </p:sp>
      <p:sp>
        <p:nvSpPr>
          <p:cNvPr id="52" name="Shape 47"/>
          <p:cNvSpPr/>
          <p:nvPr/>
        </p:nvSpPr>
        <p:spPr>
          <a:xfrm>
            <a:off x="6144768" y="2395728"/>
            <a:ext cx="274320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48"/>
          <p:cNvSpPr/>
          <p:nvPr/>
        </p:nvSpPr>
        <p:spPr>
          <a:xfrm>
            <a:off x="6309360" y="254203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6547104" y="2487168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Gap analysis vs. best-in-class</a:t>
            </a:r>
            <a:endParaRPr lang="en-US" sz="1050" dirty="0"/>
          </a:p>
        </p:txBody>
      </p:sp>
      <p:sp>
        <p:nvSpPr>
          <p:cNvPr id="55" name="Shape 50"/>
          <p:cNvSpPr/>
          <p:nvPr/>
        </p:nvSpPr>
        <p:spPr>
          <a:xfrm>
            <a:off x="6309360" y="312724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547104" y="307238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Vendor-neutral tool shortlist</a:t>
            </a:r>
            <a:endParaRPr lang="en-US" sz="1050" dirty="0"/>
          </a:p>
        </p:txBody>
      </p:sp>
      <p:sp>
        <p:nvSpPr>
          <p:cNvPr id="57" name="Shape 52"/>
          <p:cNvSpPr/>
          <p:nvPr/>
        </p:nvSpPr>
        <p:spPr>
          <a:xfrm>
            <a:off x="6309360" y="3712464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6547104" y="3657600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FinOps optimisation review</a:t>
            </a:r>
            <a:endParaRPr lang="en-US" sz="1050" dirty="0"/>
          </a:p>
        </p:txBody>
      </p:sp>
      <p:sp>
        <p:nvSpPr>
          <p:cNvPr id="59" name="Shape 54"/>
          <p:cNvSpPr/>
          <p:nvPr/>
        </p:nvSpPr>
        <p:spPr>
          <a:xfrm>
            <a:off x="6309360" y="429768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6547104" y="4242816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CI/CD &amp; DevOps coverage check</a:t>
            </a:r>
            <a:endParaRPr lang="en-US" sz="1050" dirty="0"/>
          </a:p>
        </p:txBody>
      </p:sp>
      <p:sp>
        <p:nvSpPr>
          <p:cNvPr id="61" name="Shape 56"/>
          <p:cNvSpPr/>
          <p:nvPr/>
        </p:nvSpPr>
        <p:spPr>
          <a:xfrm>
            <a:off x="6254496" y="5577840"/>
            <a:ext cx="2523744" cy="256032"/>
          </a:xfrm>
          <a:prstGeom prst="rect">
            <a:avLst/>
          </a:prstGeom>
          <a:solidFill>
            <a:srgbClr val="7C3AED">
              <a:alpha val="8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6254496" y="55778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  Tool Recommendation Matrix</a:t>
            </a:r>
            <a:endParaRPr lang="en-US" sz="950" dirty="0"/>
          </a:p>
        </p:txBody>
      </p:sp>
      <p:sp>
        <p:nvSpPr>
          <p:cNvPr id="63" name="Shape 58"/>
          <p:cNvSpPr/>
          <p:nvPr/>
        </p:nvSpPr>
        <p:spPr>
          <a:xfrm>
            <a:off x="9043416" y="1261872"/>
            <a:ext cx="274320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1128" y="1325880"/>
            <a:ext cx="365760" cy="365760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9134856" y="1261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4</a:t>
            </a:r>
            <a:endParaRPr lang="en-US" sz="1100" dirty="0"/>
          </a:p>
        </p:txBody>
      </p:sp>
      <p:sp>
        <p:nvSpPr>
          <p:cNvPr id="66" name="Text 60"/>
          <p:cNvSpPr/>
          <p:nvPr/>
        </p:nvSpPr>
        <p:spPr>
          <a:xfrm>
            <a:off x="9134856" y="15727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Report &amp; Roadmap Delivery</a:t>
            </a:r>
            <a:endParaRPr lang="en-US" sz="1050" dirty="0"/>
          </a:p>
        </p:txBody>
      </p:sp>
      <p:sp>
        <p:nvSpPr>
          <p:cNvPr id="67" name="Shape 61"/>
          <p:cNvSpPr/>
          <p:nvPr/>
        </p:nvSpPr>
        <p:spPr>
          <a:xfrm>
            <a:off x="9043416" y="2395728"/>
            <a:ext cx="274320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8" name="Shape 62"/>
          <p:cNvSpPr/>
          <p:nvPr/>
        </p:nvSpPr>
        <p:spPr>
          <a:xfrm>
            <a:off x="9208008" y="2542032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9445752" y="2487168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Full health report compilation</a:t>
            </a:r>
            <a:endParaRPr lang="en-US" sz="1050" dirty="0"/>
          </a:p>
        </p:txBody>
      </p:sp>
      <p:sp>
        <p:nvSpPr>
          <p:cNvPr id="70" name="Shape 64"/>
          <p:cNvSpPr/>
          <p:nvPr/>
        </p:nvSpPr>
        <p:spPr>
          <a:xfrm>
            <a:off x="9208008" y="3127248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1" name="Text 65"/>
          <p:cNvSpPr/>
          <p:nvPr/>
        </p:nvSpPr>
        <p:spPr>
          <a:xfrm>
            <a:off x="9445752" y="307238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Prioritised action roadmap</a:t>
            </a:r>
            <a:endParaRPr lang="en-US" sz="1050" dirty="0"/>
          </a:p>
        </p:txBody>
      </p:sp>
      <p:sp>
        <p:nvSpPr>
          <p:cNvPr id="72" name="Shape 66"/>
          <p:cNvSpPr/>
          <p:nvPr/>
        </p:nvSpPr>
        <p:spPr>
          <a:xfrm>
            <a:off x="9208008" y="3712464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9445752" y="3657600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ROI model with savings estimate</a:t>
            </a:r>
            <a:endParaRPr lang="en-US" sz="1050" dirty="0"/>
          </a:p>
        </p:txBody>
      </p:sp>
      <p:sp>
        <p:nvSpPr>
          <p:cNvPr id="74" name="Shape 68"/>
          <p:cNvSpPr/>
          <p:nvPr/>
        </p:nvSpPr>
        <p:spPr>
          <a:xfrm>
            <a:off x="9208008" y="429768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5" name="Text 69"/>
          <p:cNvSpPr/>
          <p:nvPr/>
        </p:nvSpPr>
        <p:spPr>
          <a:xfrm>
            <a:off x="9445752" y="4242816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Stakeholder presentation &amp; handover</a:t>
            </a:r>
            <a:endParaRPr lang="en-US" sz="1050" dirty="0"/>
          </a:p>
        </p:txBody>
      </p:sp>
      <p:sp>
        <p:nvSpPr>
          <p:cNvPr id="76" name="Shape 70"/>
          <p:cNvSpPr/>
          <p:nvPr/>
        </p:nvSpPr>
        <p:spPr>
          <a:xfrm>
            <a:off x="9153144" y="5577840"/>
            <a:ext cx="2523744" cy="256032"/>
          </a:xfrm>
          <a:prstGeom prst="rect">
            <a:avLst/>
          </a:prstGeom>
          <a:solidFill>
            <a:srgbClr val="059669">
              <a:alpha val="8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7" name="Text 71"/>
          <p:cNvSpPr/>
          <p:nvPr/>
        </p:nvSpPr>
        <p:spPr>
          <a:xfrm>
            <a:off x="9153144" y="55778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  Full Health Report ★</a:t>
            </a:r>
            <a:endParaRPr lang="en-US" sz="950" dirty="0"/>
          </a:p>
        </p:txBody>
      </p:sp>
      <p:sp>
        <p:nvSpPr>
          <p:cNvPr id="78" name="Text 72"/>
          <p:cNvSpPr/>
          <p:nvPr/>
        </p:nvSpPr>
        <p:spPr>
          <a:xfrm>
            <a:off x="3108960" y="169164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→</a:t>
            </a:r>
            <a:endParaRPr lang="en-US" sz="1600" dirty="0"/>
          </a:p>
        </p:txBody>
      </p:sp>
      <p:sp>
        <p:nvSpPr>
          <p:cNvPr id="79" name="Text 73"/>
          <p:cNvSpPr/>
          <p:nvPr/>
        </p:nvSpPr>
        <p:spPr>
          <a:xfrm>
            <a:off x="6007608" y="169164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→</a:t>
            </a:r>
            <a:endParaRPr lang="en-US" sz="1600" dirty="0"/>
          </a:p>
        </p:txBody>
      </p:sp>
      <p:sp>
        <p:nvSpPr>
          <p:cNvPr id="80" name="Text 74"/>
          <p:cNvSpPr/>
          <p:nvPr/>
        </p:nvSpPr>
        <p:spPr>
          <a:xfrm>
            <a:off x="8906256" y="169164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12161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10058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VITHI vs THE ALTERNATIVES — HEAD-TO-HEAD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10058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choice is clear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Vithi  |  Data Platform Health Check  |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</a:rPr>
              <a:t>vithi.io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261872"/>
            <a:ext cx="2926080" cy="4754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2618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Capability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73552" y="1261872"/>
            <a:ext cx="2487168" cy="4754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126187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TCS / Infosys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261872"/>
            <a:ext cx="2487168" cy="4754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126187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 Vendors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(Monte Carlo etc.)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47888" y="1261872"/>
            <a:ext cx="3017520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2618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VITHI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1737360"/>
            <a:ext cx="292608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737360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Time to Deliver Assessment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73552" y="1737360"/>
            <a:ext cx="2487168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737360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12–18 months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60720" y="1737360"/>
            <a:ext cx="2487168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737360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N/A — tool only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47888" y="1737360"/>
            <a:ext cx="3017520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1737360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✅  4 weeks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2231136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231136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Tool-Agnostic Recommendations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73552" y="2231136"/>
            <a:ext cx="24871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223113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❌  Partial, fee-driven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60720" y="2231136"/>
            <a:ext cx="24871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223113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❌  Own stack only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47888" y="2231136"/>
            <a:ext cx="3017520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2231136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✅  Fully independent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7472" y="2724912"/>
            <a:ext cx="292608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2724912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Full Platform Health Report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73552" y="2724912"/>
            <a:ext cx="2487168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2724912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✅  But vague &amp; high-level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60720" y="2724912"/>
            <a:ext cx="2487168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2724912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❌  Dashboard, not report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247888" y="2724912"/>
            <a:ext cx="3017520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39328" y="272491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✅  Actionable &amp; specific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7472" y="3218688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3218688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FinOps / Cost Optimisation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73552" y="3218688"/>
            <a:ext cx="24871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64992" y="3218688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</a:rPr>
              <a:t>⚠️  Generic advice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760720" y="3218688"/>
            <a:ext cx="24871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0" y="3218688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❌  Limited or none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247888" y="3218688"/>
            <a:ext cx="3017520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39328" y="3218688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✅  Pipeline-level cost savings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47472" y="3712464"/>
            <a:ext cx="292608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" y="3712464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Pipeline &amp; CI/CD Observability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273552" y="3712464"/>
            <a:ext cx="2487168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64992" y="371246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</a:rPr>
              <a:t>⚠️  Requires new SoW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760720" y="3712464"/>
            <a:ext cx="2487168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52160" y="371246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</a:rPr>
              <a:t>⚠️  Tool-specific only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247888" y="3712464"/>
            <a:ext cx="3017520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39328" y="3712464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✅  Covered in base engagement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47472" y="4206240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" y="4206240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Business KPI Impact Mapping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273552" y="4206240"/>
            <a:ext cx="24871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64992" y="4206240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❌  Separate engagement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760720" y="4206240"/>
            <a:ext cx="24871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52160" y="4206240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❌  Not available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247888" y="4206240"/>
            <a:ext cx="3017520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39328" y="4206240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✅  Included in report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47472" y="4700016"/>
            <a:ext cx="292608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" y="4700016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Data Lineage &amp; RCA Assessment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273552" y="4700016"/>
            <a:ext cx="2487168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64992" y="470001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</a:rPr>
              <a:t>⚠️  Partial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760720" y="4700016"/>
            <a:ext cx="2487168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52160" y="470001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✅  Tool-native only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247888" y="4700016"/>
            <a:ext cx="3017520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39328" y="4700016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✅  Cross-stack, full lineage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347472" y="5193792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8912" y="5193792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Prioritised Action Roadmap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273552" y="5193792"/>
            <a:ext cx="24871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64992" y="5193792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</a:rPr>
              <a:t>⚠️  High-level strategy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5760720" y="5193792"/>
            <a:ext cx="24871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52160" y="5193792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❌  Not provided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8247888" y="5193792"/>
            <a:ext cx="3017520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39328" y="519379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✅  30/60/90-day plan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347472" y="5687568"/>
            <a:ext cx="292608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38912" y="5687568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Cost of Engagement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3273552" y="5687568"/>
            <a:ext cx="2487168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64992" y="5687568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$$$$  ($2M–$5M+)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760720" y="5687568"/>
            <a:ext cx="2487168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852160" y="5687568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$$$  (Licensing + services)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8247888" y="5687568"/>
            <a:ext cx="3017520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339328" y="5687568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$$  Fixed-fee, 4 weeks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8247888" y="6172200"/>
            <a:ext cx="301752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8247888" y="6172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★  VITHI  —  Best Overall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12161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10058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CLIENTS CHOOSE VITHI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10058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Speed. Independence. Depth. Outcomes.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Vithi  |  Data Platform Health Check  |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6019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</a:rPr>
              <a:t>vithi.io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261872"/>
            <a:ext cx="274320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261872"/>
            <a:ext cx="2743200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1389888"/>
            <a:ext cx="530352" cy="5303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38912" y="19659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7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438912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Weeks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38912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Full health check delivered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46120" y="1261872"/>
            <a:ext cx="274320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46120" y="1261872"/>
            <a:ext cx="2743200" cy="914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389888"/>
            <a:ext cx="530352" cy="5303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19659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800" dirty="0"/>
          </a:p>
        </p:txBody>
      </p:sp>
      <p:sp>
        <p:nvSpPr>
          <p:cNvPr id="19" name="Text 15"/>
          <p:cNvSpPr/>
          <p:nvPr/>
        </p:nvSpPr>
        <p:spPr>
          <a:xfrm>
            <a:off x="333756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Independent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33756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No vendor referral agreements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44768" y="1261872"/>
            <a:ext cx="274320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44768" y="1261872"/>
            <a:ext cx="274320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1389888"/>
            <a:ext cx="530352" cy="5303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36208" y="19659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20–30%</a:t>
            </a:r>
            <a:endParaRPr lang="en-US" sz="3800" dirty="0"/>
          </a:p>
        </p:txBody>
      </p:sp>
      <p:sp>
        <p:nvSpPr>
          <p:cNvPr id="25" name="Text 20"/>
          <p:cNvSpPr/>
          <p:nvPr/>
        </p:nvSpPr>
        <p:spPr>
          <a:xfrm>
            <a:off x="6236208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Cost Savings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236208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Cloud savings typically found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9043416" y="1261872"/>
            <a:ext cx="274320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043416" y="1261872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0696" y="1389888"/>
            <a:ext cx="530352" cy="5303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34856" y="19659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800" dirty="0"/>
          </a:p>
        </p:txBody>
      </p:sp>
      <p:sp>
        <p:nvSpPr>
          <p:cNvPr id="31" name="Text 25"/>
          <p:cNvSpPr/>
          <p:nvPr/>
        </p:nvSpPr>
        <p:spPr>
          <a:xfrm>
            <a:off x="9134856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Dimensions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9134856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Maturity scored across pillars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47472" y="3547872"/>
            <a:ext cx="11475720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657600"/>
            <a:ext cx="475488" cy="4754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24128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</a:rPr>
              <a:t>"</a:t>
            </a:r>
            <a:r>
              <a:rPr lang="en-US" sz="1250" i="1" dirty="0">
                <a:solidFill>
                  <a:srgbClr val="0F172A"/>
                </a:solidFill>
              </a:rPr>
              <a:t> Vithi gave us more clarity in 4 weeks than we got in 18 months with a Big 4 firm. We knew exactly which tools to adopt, which pipelines to fix first, and how much money we were wasting. The report paid for itself in the first month.</a:t>
            </a:r>
            <a:r>
              <a:rPr lang="en-US" sz="2600" b="1" dirty="0">
                <a:solidFill>
                  <a:srgbClr val="F59E0B"/>
                </a:solidFill>
              </a:rPr>
              <a:t>"</a:t>
            </a:r>
            <a:endParaRPr lang="en-US" sz="2600" dirty="0"/>
          </a:p>
        </p:txBody>
      </p:sp>
      <p:sp>
        <p:nvSpPr>
          <p:cNvPr id="36" name="Shape 29"/>
          <p:cNvSpPr/>
          <p:nvPr/>
        </p:nvSpPr>
        <p:spPr>
          <a:xfrm>
            <a:off x="347472" y="4956048"/>
            <a:ext cx="36576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347472" y="4956048"/>
            <a:ext cx="566928" cy="1325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" y="5202936"/>
            <a:ext cx="384048" cy="38404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24128" y="501091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Faster than any SI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1024128" y="539496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4 weeks vs. 12–18 months. Your team gets answers while the problem is still relevant.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4206240" y="4956048"/>
            <a:ext cx="36576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206240" y="4956048"/>
            <a:ext cx="566928" cy="1325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0" y="5202936"/>
            <a:ext cx="384048" cy="38404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882896" y="501091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Broader than any tool vendor</a:t>
            </a:r>
            <a:endParaRPr lang="en-US" sz="1150" dirty="0"/>
          </a:p>
        </p:txBody>
      </p:sp>
      <p:sp>
        <p:nvSpPr>
          <p:cNvPr id="45" name="Text 36"/>
          <p:cNvSpPr/>
          <p:nvPr/>
        </p:nvSpPr>
        <p:spPr>
          <a:xfrm>
            <a:off x="4882896" y="539496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We assess your full stack — not just the vendor's own product. Truly independent.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8065008" y="4956048"/>
            <a:ext cx="36576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8065008" y="4956048"/>
            <a:ext cx="56692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6448" y="5202936"/>
            <a:ext cx="384048" cy="38404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8741664" y="501091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More actionable than any deck</a:t>
            </a:r>
            <a:endParaRPr lang="en-US" sz="1150" dirty="0"/>
          </a:p>
        </p:txBody>
      </p:sp>
      <p:sp>
        <p:nvSpPr>
          <p:cNvPr id="50" name="Text 40"/>
          <p:cNvSpPr/>
          <p:nvPr/>
        </p:nvSpPr>
        <p:spPr>
          <a:xfrm>
            <a:off x="8741664" y="539496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report with specific findings, ranked priorities, and a ready-to-execute roadmap.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6400800" cy="6400800"/>
          </a:xfrm>
          <a:prstGeom prst="ellipse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59E0B"/>
                </a:solidFill>
              </a:rPr>
              <a:t>YOUR NEXT STEP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your Data Platform Health Check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75488" y="1600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Vithi — and get your full report in 4 weeks.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75488" y="2487168"/>
            <a:ext cx="3611880" cy="3090672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56816" y="2578608"/>
            <a:ext cx="658368" cy="6583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6816" y="2578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5216" y="3337560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Book a 30-Min Discovery Call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5216" y="3950208"/>
            <a:ext cx="3401568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</a:rPr>
              <a:t>Walk us through your current stack. We map your pain points and confirm the scope in one session.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70248" y="2487168"/>
            <a:ext cx="3611880" cy="3090672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51576" y="2578608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51576" y="2578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79976" y="3337560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Receive a Fixed-Fee Proposal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79976" y="3950208"/>
            <a:ext cx="3401568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</a:rPr>
              <a:t>No surprise costs. One fixed-fee engagement covering all 4 weeks and the full health report.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5008" y="2487168"/>
            <a:ext cx="3611880" cy="3090672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546336" y="2578608"/>
            <a:ext cx="658368" cy="6583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46336" y="2578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174736" y="3337560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Get Your Report in 4 Weeks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74736" y="3950208"/>
            <a:ext cx="3401568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</a:rPr>
              <a:t>Day 28: your leadership team receives a complete, actionable Data Platform Health Report from Vithi.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22192" y="5870448"/>
            <a:ext cx="452628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22192" y="587044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F44"/>
                </a:solidFill>
              </a:rPr>
              <a:t>Book a Discovery Call with Vithi  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vithi.io   |   hello@vithi.io   |   Confidential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1708</TotalTime>
  <Words>1439</Words>
  <Application>Microsoft Office PowerPoint</Application>
  <PresentationFormat>Widescreen</PresentationFormat>
  <Paragraphs>235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Vithi — The Smarter Path to Data Platform Health</dc:title>
  <dc:subject>PptxGenJS Presentation</dc:subject>
  <dc:creator>PptxGenJS</dc:creator>
  <cp:lastModifiedBy>Vikram B</cp:lastModifiedBy>
  <cp:revision>3</cp:revision>
  <dcterms:created xsi:type="dcterms:W3CDTF">2026-05-14T18:40:42Z</dcterms:created>
  <dcterms:modified xsi:type="dcterms:W3CDTF">2026-05-29T12:52:27Z</dcterms:modified>
</cp:coreProperties>
</file>